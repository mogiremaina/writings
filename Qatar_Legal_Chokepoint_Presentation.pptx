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0"/>
            <a:ext cx="8229600" cy="1828800"/>
          </a:xfrm>
          <a:prstGeom prst="rect">
            <a:avLst/>
          </a:prstGeom>
          <a:noFill/>
        </p:spPr>
        <p:txBody>
          <a:bodyPr wrap="none">
            <a:spAutoFit/>
          </a:bodyPr>
          <a:lstStyle/>
          <a:p>
            <a:pPr algn="ctr">
              <a:defRPr sz="3600" b="1"/>
            </a:pPr>
            <a:r>
              <a:t>Qatar as a Legal Chokepoint:</a:t>
            </a:r>
          </a:p>
          <a:p>
            <a:r>
              <a:t>Economic Warfare and International Law</a:t>
            </a:r>
          </a:p>
        </p:txBody>
      </p:sp>
      <p:sp>
        <p:nvSpPr>
          <p:cNvPr id="3" name="TextBox 2"/>
          <p:cNvSpPr txBox="1"/>
          <p:nvPr/>
        </p:nvSpPr>
        <p:spPr>
          <a:xfrm>
            <a:off x="457200" y="4114800"/>
            <a:ext cx="8229600" cy="1371600"/>
          </a:xfrm>
          <a:prstGeom prst="rect">
            <a:avLst/>
          </a:prstGeom>
          <a:noFill/>
        </p:spPr>
        <p:txBody>
          <a:bodyPr wrap="none">
            <a:spAutoFit/>
          </a:bodyPr>
          <a:lstStyle/>
          <a:p>
            <a:pPr algn="ctr">
              <a:defRPr sz="2000"/>
            </a:pPr>
            <a:r>
              <a:t>LL.M Thesis Presentation</a:t>
            </a:r>
          </a:p>
          <a:p>
            <a:r>
              <a:t>Research Methods in Law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800" b="1"/>
            </a:pPr>
            <a:r>
              <a:t>Core Claims</a:t>
            </a:r>
          </a:p>
        </p:txBody>
      </p:sp>
      <p:sp>
        <p:nvSpPr>
          <p:cNvPr id="3" name="TextBox 2"/>
          <p:cNvSpPr txBox="1"/>
          <p:nvPr/>
        </p:nvSpPr>
        <p:spPr>
          <a:xfrm>
            <a:off x="457200" y="1097280"/>
            <a:ext cx="8229600" cy="5029200"/>
          </a:xfrm>
          <a:prstGeom prst="rect">
            <a:avLst/>
          </a:prstGeom>
          <a:noFill/>
        </p:spPr>
        <p:txBody>
          <a:bodyPr wrap="square">
            <a:spAutoFit/>
          </a:bodyPr>
          <a:lstStyle/>
          <a:p>
            <a:pPr>
              <a:spcAft>
                <a:spcPts val="800"/>
              </a:spcAft>
              <a:defRPr sz="1600" b="1"/>
            </a:pPr>
            <a:r>
              <a:t>Claim 1: Transnational Legal Exposure</a:t>
            </a:r>
          </a:p>
          <a:p>
            <a:pPr lvl="1">
              <a:spcAft>
                <a:spcPts val="1200"/>
              </a:spcAft>
              <a:defRPr sz="1400"/>
            </a:pPr>
            <a:r>
              <a:t>Qatar shares control of the world's largest gas reserve with Iran, creating unique legal exposure under extraterritorial sanctions (OFAC). These sanctions override territorial sovereignty, reducing Qatar's control from substantive to nominal.</a:t>
            </a:r>
          </a:p>
          <a:p>
            <a:pPr>
              <a:spcAft>
                <a:spcPts val="800"/>
              </a:spcAft>
              <a:defRPr sz="1600" b="1"/>
            </a:pPr>
            <a:r>
              <a:t>Claim 2: Contradiction to State Sovereignty</a:t>
            </a:r>
          </a:p>
          <a:p>
            <a:pPr lvl="1">
              <a:spcAft>
                <a:spcPts val="1200"/>
              </a:spcAft>
              <a:defRPr sz="1400"/>
            </a:pPr>
            <a:r>
              <a:t>Economic interdependence at critical chokepoints fundamentally contradicts dominant legal doctrine of state sovereignty. Weaponised interdependence violates UNCLOS Articles 56, 77 and Qatar's Law No. (8) of 2004.</a:t>
            </a:r>
          </a:p>
          <a:p>
            <a:pPr>
              <a:spcAft>
                <a:spcPts val="800"/>
              </a:spcAft>
              <a:defRPr sz="1600" b="1"/>
            </a:pPr>
            <a:r>
              <a:t>Claim 3: Multi-Forum Legal Strategy Reveals Gaps</a:t>
            </a:r>
          </a:p>
          <a:p>
            <a:pPr lvl="1">
              <a:defRPr sz="1400"/>
            </a:pPr>
            <a:r>
              <a:t>Qatar's simultaneous litigation (ICJ, ICAO, CERD) during 2017-2021 blockade revealed major gaps in protecting chokepoint states from economic warfare.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800" b="1"/>
            </a:pPr>
            <a:r>
              <a:t>Research Methodology</a:t>
            </a:r>
          </a:p>
        </p:txBody>
      </p:sp>
      <p:sp>
        <p:nvSpPr>
          <p:cNvPr id="3" name="TextBox 2"/>
          <p:cNvSpPr txBox="1"/>
          <p:nvPr/>
        </p:nvSpPr>
        <p:spPr>
          <a:xfrm>
            <a:off x="457200" y="1097280"/>
            <a:ext cx="8229600" cy="5029200"/>
          </a:xfrm>
          <a:prstGeom prst="rect">
            <a:avLst/>
          </a:prstGeom>
          <a:noFill/>
        </p:spPr>
        <p:txBody>
          <a:bodyPr wrap="square">
            <a:spAutoFit/>
          </a:bodyPr>
          <a:lstStyle/>
          <a:p>
            <a:pPr>
              <a:spcAft>
                <a:spcPts val="800"/>
              </a:spcAft>
              <a:defRPr sz="1600" b="1"/>
            </a:pPr>
            <a:r>
              <a:t>1. Doctrinal Legal Analysis</a:t>
            </a:r>
          </a:p>
          <a:p>
            <a:pPr lvl="1">
              <a:spcAft>
                <a:spcPts val="1200"/>
              </a:spcAft>
              <a:defRPr sz="1400"/>
            </a:pPr>
            <a:r>
              <a:t>Examines sovereignty, jurisdiction, and treaty obligations (UNCLOS, Chicago Convention). Reveals critical gap: remedies remain procedural rather than substantive.</a:t>
            </a:r>
          </a:p>
          <a:p>
            <a:pPr>
              <a:spcAft>
                <a:spcPts val="800"/>
              </a:spcAft>
              <a:defRPr sz="1600" b="1"/>
            </a:pPr>
            <a:r>
              <a:t>2. Comparative Case Study</a:t>
            </a:r>
          </a:p>
          <a:p>
            <a:pPr lvl="1">
              <a:spcAft>
                <a:spcPts val="1200"/>
              </a:spcAft>
              <a:defRPr sz="1400"/>
            </a:pPr>
            <a:r>
              <a:t>Compares Qatar (2017-2021), Russia (2022-present), Iran (2011-2025), Taiwan (2022-present). Demonstrates international law distinguishes by legal form rather than economic effect—territorial blockades trigger aviation law, but functional blockades lack legal remedy.</a:t>
            </a:r>
          </a:p>
          <a:p>
            <a:pPr>
              <a:spcAft>
                <a:spcPts val="800"/>
              </a:spcAft>
              <a:defRPr sz="1600" b="1"/>
            </a:pPr>
            <a:r>
              <a:t>3. Interdisciplinary Integration (McCrudden Framework)</a:t>
            </a:r>
          </a:p>
          <a:p>
            <a:pPr lvl="1">
              <a:defRPr sz="1400"/>
            </a:pPr>
            <a:r>
              <a:t>Applies 'two-way traffic' between law and social sciences to understand why economic power overrides legal validity. Example: Russian oil price cap works through market control (95% insurance concentration), not legal authority.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800" b="1"/>
            </a:pPr>
            <a:r>
              <a:t>Key Findings &amp; Legal Gaps</a:t>
            </a:r>
          </a:p>
        </p:txBody>
      </p:sp>
      <p:sp>
        <p:nvSpPr>
          <p:cNvPr id="3" name="TextBox 2"/>
          <p:cNvSpPr txBox="1"/>
          <p:nvPr/>
        </p:nvSpPr>
        <p:spPr>
          <a:xfrm>
            <a:off x="457200" y="1097280"/>
            <a:ext cx="8229600" cy="5029200"/>
          </a:xfrm>
          <a:prstGeom prst="rect">
            <a:avLst/>
          </a:prstGeom>
          <a:noFill/>
        </p:spPr>
        <p:txBody>
          <a:bodyPr wrap="square">
            <a:spAutoFit/>
          </a:bodyPr>
          <a:lstStyle/>
          <a:p>
            <a:pPr>
              <a:spcAft>
                <a:spcPts val="800"/>
              </a:spcAft>
              <a:defRPr sz="1600" b="1"/>
            </a:pPr>
            <a:r>
              <a:t>ICJ Jurisdictional Victory Without Substantive Protection</a:t>
            </a:r>
          </a:p>
          <a:p>
            <a:pPr lvl="1">
              <a:spcAft>
                <a:spcPts val="1200"/>
              </a:spcAft>
              <a:defRPr sz="1400"/>
            </a:pPr>
            <a:r>
              <a:t>ICJ affirmed ICAO jurisdiction (2020), but case settled without merits determination or compensation (2021). International law provides formal remedy but no practical protection—reactive, not preventative.</a:t>
            </a:r>
          </a:p>
          <a:p>
            <a:pPr>
              <a:spcAft>
                <a:spcPts val="800"/>
              </a:spcAft>
              <a:defRPr sz="1600" b="1"/>
            </a:pPr>
            <a:r>
              <a:t>Form vs. Effect Problem</a:t>
            </a:r>
          </a:p>
          <a:p>
            <a:pPr lvl="1">
              <a:spcAft>
                <a:spcPts val="1200"/>
              </a:spcAft>
              <a:defRPr sz="1400"/>
            </a:pPr>
            <a:r>
              <a:t>Current law distinguishes by legal form (blockade/sanctions/export controls) rather than economic effect. Territorial blockade triggers ICAO; insurance blockade and tech export controls with identical coercive impact have no forum. International law fails to recognize functional equivalence.</a:t>
            </a:r>
          </a:p>
          <a:p>
            <a:pPr>
              <a:spcAft>
                <a:spcPts val="800"/>
              </a:spcAft>
              <a:defRPr sz="1600" b="1"/>
            </a:pPr>
            <a:r>
              <a:t>Weaponised Interdependence &amp; Erosion of Sovereignty</a:t>
            </a:r>
          </a:p>
          <a:p>
            <a:pPr lvl="1">
              <a:defRPr sz="1400"/>
            </a:pPr>
            <a:r>
              <a:t>Extraterritorial sanctions (OFAC) create artificial legal boundaries that override sovereign equality. Fishman's 'invisible infrastructure' (dollar clearing, SWIFT, maritime insurance) enables economic warfare without military force, revealing sovereignty is nominal when compliance infrastructures privatize enforcement.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800" b="1"/>
            </a:pPr>
            <a:r>
              <a:t>Lessons Learned &amp; Feedback Implementation</a:t>
            </a:r>
          </a:p>
        </p:txBody>
      </p:sp>
      <p:sp>
        <p:nvSpPr>
          <p:cNvPr id="3" name="TextBox 2"/>
          <p:cNvSpPr txBox="1"/>
          <p:nvPr/>
        </p:nvSpPr>
        <p:spPr>
          <a:xfrm>
            <a:off x="457200" y="1097280"/>
            <a:ext cx="8229600" cy="5029200"/>
          </a:xfrm>
          <a:prstGeom prst="rect">
            <a:avLst/>
          </a:prstGeom>
          <a:noFill/>
        </p:spPr>
        <p:txBody>
          <a:bodyPr wrap="square">
            <a:spAutoFit/>
          </a:bodyPr>
          <a:lstStyle/>
          <a:p>
            <a:pPr>
              <a:spcAft>
                <a:spcPts val="800"/>
              </a:spcAft>
              <a:defRPr sz="1600" b="1"/>
            </a:pPr>
            <a:r>
              <a:t>Key Feedback Integrated</a:t>
            </a:r>
          </a:p>
          <a:p>
            <a:pPr lvl="1">
              <a:defRPr sz="1400"/>
            </a:pPr>
            <a:r>
              <a:t>• Enhanced specificity throughout analysis (FA1, FA8)</a:t>
            </a:r>
          </a:p>
          <a:p>
            <a:pPr lvl="1">
              <a:defRPr sz="1400"/>
            </a:pPr>
            <a:r>
              <a:t>• Reorganized research questions from broad to specific (FA6)</a:t>
            </a:r>
          </a:p>
          <a:p>
            <a:pPr lvl="1">
              <a:defRPr sz="1400"/>
            </a:pPr>
            <a:r>
              <a:t>• Corrected grammar and terminology (FA7, FA14-FA16)</a:t>
            </a:r>
          </a:p>
          <a:p>
            <a:pPr lvl="1">
              <a:spcAft>
                <a:spcPts val="1200"/>
              </a:spcAft>
              <a:defRPr sz="1400"/>
            </a:pPr>
            <a:r>
              <a:t>• Fixed citation formatting—single footnote per sentence (FA17)</a:t>
            </a:r>
          </a:p>
          <a:p>
            <a:pPr>
              <a:spcAft>
                <a:spcPts val="800"/>
              </a:spcAft>
              <a:defRPr sz="1600" b="1"/>
            </a:pPr>
            <a:r>
              <a:t>Critical Methodological Refinement (FA22-FA25)</a:t>
            </a:r>
          </a:p>
          <a:p>
            <a:pPr lvl="1">
              <a:spcAft>
                <a:spcPts val="1200"/>
              </a:spcAft>
              <a:defRPr sz="1400"/>
            </a:pPr>
            <a:r>
              <a:t>Strengthened justification for why doctrinal method connects to claims and research questions. Explained relationship between method and weaponised interdependence—doctrinal analysis alone cannot explain why economic power overcomes legal validity, requiring comparative and interdisciplinary approaches.</a:t>
            </a:r>
          </a:p>
          <a:p>
            <a:pPr>
              <a:spcAft>
                <a:spcPts val="800"/>
              </a:spcAft>
              <a:defRPr sz="1600" b="1"/>
            </a:pPr>
            <a:r>
              <a:t>Future Direction: Effect-Based Taxonomy</a:t>
            </a:r>
          </a:p>
          <a:p>
            <a:pPr lvl="1">
              <a:defRPr sz="1400"/>
            </a:pPr>
            <a:r>
              <a:t>Develop empirical thresholds (e.g., 80% insurance market control, 2000 nautical mile rerouting) that translate into justiciable doctrine for courts to apply when chokepoint states allege functional strangulation.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